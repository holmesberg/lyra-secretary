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LyraOS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student-owned academic load, planning, and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pic>
        <p:nvPicPr>
          <p:cNvPr id="30" name="Picture 29" descr="lyra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47088"/>
            <a:ext cx="141732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97480" y="1847088"/>
            <a:ext cx="7498079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>
                <a:solidFill>
                  <a:srgbClr val="F0EFEA"/>
                </a:solidFill>
                <a:latin typeface="Aptos Display"/>
              </a:rPr>
              <a:t>Making academic pressure visible</a:t>
            </a:r>
            <a:br/>
            <a:r>
              <a:rPr sz="3400" b="1">
                <a:solidFill>
                  <a:srgbClr val="F0EFEA"/>
                </a:solidFill>
                <a:latin typeface="Aptos Display"/>
              </a:rPr>
              <a:t>before crisis mode.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182112"/>
            <a:ext cx="7223760" cy="6766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0">
                <a:solidFill>
                  <a:srgbClr val="97A0B5"/>
                </a:solidFill>
                <a:latin typeface="Aptos Display"/>
              </a:rPr>
              <a:t>A planning and recovery workspace for students when deadlines, sessions, and real life collide.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1828800"/>
            <a:ext cx="3291840" cy="2011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203936" y="38404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350240" y="36941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77856" y="2057400"/>
            <a:ext cx="28529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CORE PROMISE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77856" y="2505456"/>
            <a:ext cx="2852928" cy="11887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load becomes visible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plans become executable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drift becomes recoverable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635508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005840" y="63550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05840" y="635508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478256" y="6976872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624560" y="6830568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07008" y="655624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 dirty="0">
                <a:solidFill>
                  <a:srgbClr val="F0EFEA"/>
                </a:solidFill>
                <a:latin typeface="Aptos Display"/>
              </a:rPr>
              <a:t>Ambiguous activity becomes a question for the student, not a silent decision.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The Student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Calendars store intent. Students need help when intent meets pressure.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1920240"/>
            <a:ext cx="65836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F0EFEA"/>
                </a:solidFill>
                <a:latin typeface="Aptos Display"/>
              </a:rPr>
              <a:t>The stressful moment is not ?I have work.?</a:t>
            </a:r>
            <a:br/>
            <a:r>
              <a:rPr sz="2600" b="1">
                <a:solidFill>
                  <a:srgbClr val="F0EFEA"/>
                </a:solidFill>
                <a:latin typeface="Aptos Display"/>
              </a:rPr>
              <a:t>It is ?I cannot see what is now dangerous.?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3246120"/>
            <a:ext cx="338328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1005840" y="3246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5840" y="324612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42816" y="5074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89120" y="49286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25296" y="3474720"/>
            <a:ext cx="29443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What students feel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6" y="3922776"/>
            <a:ext cx="294436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too many moving deadlines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unclear first move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one slip compounds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246120"/>
            <a:ext cx="338328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4754880" y="3246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754880" y="324612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91856" y="5074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38160" y="49286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974336" y="3474720"/>
            <a:ext cx="29443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What tools show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3922776"/>
            <a:ext cx="294436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lists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dates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resources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3246120"/>
            <a:ext cx="356616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8503920" y="32461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03920" y="324612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923776" y="50749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070080" y="49286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23376" y="3474720"/>
            <a:ext cx="312724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What disappears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3376" y="3922776"/>
            <a:ext cx="312724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where time went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which work drifted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what recovery is safe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" y="58064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1005840" y="58064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05840" y="580644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478256" y="6428231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3624560" y="6281927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207008" y="60076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Lyra makes the collision legible early enough to recover.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The Missing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Academic tools each hold part of the picture.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2057400"/>
            <a:ext cx="2606040" cy="1874519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1005840" y="20574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5840" y="20574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65576" y="3931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611880" y="3785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25296" y="2286000"/>
            <a:ext cx="21671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Baseet / LMS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2734056"/>
            <a:ext cx="2167128" cy="1051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courses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deadlines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resources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11880" y="2971800"/>
            <a:ext cx="45720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251960" y="2057400"/>
            <a:ext cx="2606040" cy="1874519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4251960" y="20574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51960" y="20574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11696" y="3931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58000" y="3785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71416" y="2286000"/>
            <a:ext cx="21671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Calendar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1416" y="2734056"/>
            <a:ext cx="2167128" cy="1051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availability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constraints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58000" y="2971800"/>
            <a:ext cx="45720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498079" y="2057400"/>
            <a:ext cx="2606040" cy="1874519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7498079" y="20574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98079" y="20574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957815" y="3931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104119" y="3785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17536" y="2286000"/>
            <a:ext cx="21671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Task app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7536" y="2734056"/>
            <a:ext cx="2167128" cy="1051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intentions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manual plans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104119" y="2971800"/>
            <a:ext cx="45720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0744199" y="2057400"/>
            <a:ext cx="2606040" cy="1874519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10744199" y="20574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744199" y="20574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203935" y="39319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350239" y="3785615"/>
            <a:ext cx="0" cy="146305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963655" y="2286000"/>
            <a:ext cx="21671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LyraOS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63655" y="2734056"/>
            <a:ext cx="2167128" cy="10515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load shape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session history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recovery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" y="530352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1005840" y="53035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5840" y="530352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3478256" y="5925312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3624560" y="5779007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207008" y="550468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0EFEA"/>
                </a:solidFill>
                <a:latin typeface="Aptos Display"/>
              </a:rPr>
              <a:t>Lyra sits above commitments and helps turn academic structure into student-owned next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What Lyra Does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A practical loop that stays editable and confirmation-first.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1965960"/>
            <a:ext cx="3337560" cy="8229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14400" y="19659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19659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05656" y="2788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51960" y="2642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15568" y="2185415"/>
            <a:ext cx="29260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0EFEA"/>
                </a:solidFill>
                <a:latin typeface="Aptos Display"/>
              </a:rPr>
              <a:t>1. capture load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51960" y="2377440"/>
            <a:ext cx="86868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120640" y="1965960"/>
            <a:ext cx="3337560" cy="8229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120640" y="19659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20640" y="19659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11896" y="2788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58200" y="2642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21807" y="2185415"/>
            <a:ext cx="29260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0EFEA"/>
                </a:solidFill>
                <a:latin typeface="Aptos Display"/>
              </a:rPr>
              <a:t>2. see pressure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58200" y="2377440"/>
            <a:ext cx="86868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326880" y="1965960"/>
            <a:ext cx="3337560" cy="8229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326880" y="19659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26880" y="19659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518136" y="2788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664440" y="2642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528048" y="2185415"/>
            <a:ext cx="29260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0EFEA"/>
                </a:solidFill>
                <a:latin typeface="Aptos Display"/>
              </a:rPr>
              <a:t>3. plan 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3566160"/>
            <a:ext cx="3337560" cy="8229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914400" y="35661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4400" y="3566160"/>
            <a:ext cx="0" cy="146303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105656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251960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115568" y="3785615"/>
            <a:ext cx="29260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0EFEA"/>
                </a:solidFill>
                <a:latin typeface="Aptos Display"/>
              </a:rPr>
              <a:t>4. run session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251960" y="3977639"/>
            <a:ext cx="86868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120640" y="3566160"/>
            <a:ext cx="3337560" cy="8229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Connector 57"/>
          <p:cNvCxnSpPr/>
          <p:nvPr/>
        </p:nvCxnSpPr>
        <p:spPr>
          <a:xfrm>
            <a:off x="5120640" y="356616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20640" y="3566160"/>
            <a:ext cx="0" cy="146303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11896" y="43891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458200" y="42428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21807" y="3785615"/>
            <a:ext cx="29260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0EFEA"/>
                </a:solidFill>
                <a:latin typeface="Aptos Display"/>
              </a:rPr>
              <a:t>5. recover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58200" y="3977639"/>
            <a:ext cx="86868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9326880" y="3566160"/>
            <a:ext cx="3337560" cy="8229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9326880" y="356616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326880" y="3566160"/>
            <a:ext cx="0" cy="146303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2518136" y="43891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2664440" y="42428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528048" y="3785615"/>
            <a:ext cx="29260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0EFEA"/>
                </a:solidFill>
                <a:latin typeface="Aptos Display"/>
              </a:rPr>
              <a:t>6. calibrate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" y="594360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1005840" y="59436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05840" y="59436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3478256" y="6565392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624560" y="6419088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207008" y="614476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F0EFEA"/>
                </a:solidFill>
                <a:latin typeface="Aptos Display"/>
              </a:rPr>
              <a:t>Internal invariant: intention -&gt; execution -&gt; interruption -&gt; drift -&gt; recalibration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Day-0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Before personalization, the week can already become understandable.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965960"/>
            <a:ext cx="3657600" cy="23317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9659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9659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71416" y="4297679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4151375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194560"/>
            <a:ext cx="321868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1. Fast 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642615"/>
            <a:ext cx="3218688" cy="1508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Brain dump messy tasks.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Preview before anything is written.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Student confirms the plan.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1965960"/>
            <a:ext cx="3657600" cy="23317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86400" y="19659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86400" y="19659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97696" y="4297679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44000" y="4151375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05856" y="2194560"/>
            <a:ext cx="321868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2. Less manual entry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5856" y="2642615"/>
            <a:ext cx="3218688" cy="1508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Moodle now.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Baseet later.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Provider data enters as context.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1965960"/>
            <a:ext cx="3383280" cy="23317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0012680" y="196596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12680" y="196596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49655" y="4297679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395959" y="4151375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232136" y="2194560"/>
            <a:ext cx="29443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3. Pressure clarity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2136" y="2642615"/>
            <a:ext cx="2944368" cy="1508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what is due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what is big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what is uncertain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what can move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571500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05840" y="57150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" y="57150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478256" y="6336792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0" y="6190488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207008" y="591616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0EFEA"/>
                </a:solidFill>
                <a:latin typeface="Aptos Display"/>
              </a:rPr>
              <a:t>The first useful promise: ?this finally explains my week.?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Pressure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A visible shape of academic load, not a panic 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1874519"/>
            <a:ext cx="7315200" cy="2971800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1005840" y="1874519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5840" y="1874519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74736" y="48463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1040" y="47000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34440" y="2084831"/>
            <a:ext cx="36576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VISIBLE ACADEMIC 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2560320"/>
            <a:ext cx="667512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F0EFEA"/>
                </a:solidFill>
                <a:latin typeface="Aptos"/>
              </a:rPr>
              <a:t>3 deadlines cluster within 48 hours.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F0EFEA"/>
                </a:solidFill>
                <a:latin typeface="Aptos"/>
              </a:rPr>
              <a:t>2 imported items need coverage confirmation.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F0EFEA"/>
                </a:solidFill>
                <a:latin typeface="Aptos"/>
              </a:rPr>
              <a:t>Visible load is 9-14 hours: a range, not a fake exact number.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1828800"/>
            <a:ext cx="34747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91897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897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518136" y="2788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664440" y="2642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409176" y="2057400"/>
            <a:ext cx="30358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RANGES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9176" y="2505456"/>
            <a:ext cx="30358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uncertainty is visible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063240"/>
            <a:ext cx="34747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189720" y="30632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189720" y="306324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518136" y="402336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664440" y="387705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409176" y="3291840"/>
            <a:ext cx="30358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TRUST STATES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9176" y="3739896"/>
            <a:ext cx="30358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source confidence is named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4297680"/>
            <a:ext cx="34747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189720" y="4297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189720" y="429768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518136" y="5257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664440" y="511149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409176" y="4526280"/>
            <a:ext cx="30358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RECOVERY OPTIONS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9176" y="4974336"/>
            <a:ext cx="30358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student chooses the next move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The Recovery Moment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The wedge is the rescue hand when pressure compounds.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2331720"/>
            <a:ext cx="2560320" cy="1417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14400" y="23317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233172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8415" y="3749039"/>
            <a:ext cx="146305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74720" y="3602735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33856" y="2560320"/>
            <a:ext cx="21214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Missed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3008376"/>
            <a:ext cx="2121408" cy="594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block slipped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474720" y="3035808"/>
            <a:ext cx="502919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251960" y="2331720"/>
            <a:ext cx="2560320" cy="1417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4251960" y="23317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251960" y="233172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65976" y="3749039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12280" y="3602735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71416" y="2560320"/>
            <a:ext cx="21214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Pressure changed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1416" y="3008376"/>
            <a:ext cx="2121408" cy="594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time compressed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12280" y="3035808"/>
            <a:ext cx="50292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589520" y="2331720"/>
            <a:ext cx="2560320" cy="1417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7589520" y="23317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89520" y="233172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03536" y="3749039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149840" y="3602735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808976" y="2560320"/>
            <a:ext cx="21214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Lyra asks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08976" y="3008376"/>
            <a:ext cx="2121408" cy="594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done / partial / split?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149840" y="3035808"/>
            <a:ext cx="50292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0927080" y="2331720"/>
            <a:ext cx="2560320" cy="1417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10927080" y="23317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927080" y="233172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341096" y="3749039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487400" y="3602735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1146536" y="2560320"/>
            <a:ext cx="21214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Student decides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46536" y="3008376"/>
            <a:ext cx="2121408" cy="594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97A0B5"/>
                </a:solidFill>
                <a:latin typeface="Aptos"/>
              </a:rPr>
              <a:t>state changes only by choice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" y="53492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1005840" y="53492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5840" y="534924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3478256" y="5971031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3624560" y="5824727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207008" y="55504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Recovery language names the next safe move, not the student as the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Calibration Prompts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Small prompts now. Stronger guidance only after confirmed patterns.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28800"/>
            <a:ext cx="3749039" cy="24688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62855" y="4297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59" y="41513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Context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05456"/>
            <a:ext cx="3310127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?This week is more compressed than usual.?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?This estimate may need buffer.?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828800"/>
            <a:ext cx="3749039" cy="24688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4068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4068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43416" y="42976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9720" y="415137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013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Confirmation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0136" y="2505456"/>
            <a:ext cx="3310127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?Done, partial, skipped, or adjusted??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?Continue, pause, or split??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1828800"/>
            <a:ext cx="3520440" cy="24688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92124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2124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95376" y="4297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441680" y="41513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140696" y="2057400"/>
            <a:ext cx="30815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Future experiment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0696" y="2505456"/>
            <a:ext cx="3081528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try a smaller scope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move one block earlier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measure outcome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553212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05840" y="5532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" y="553212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478256" y="6153912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0" y="6007607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207008" y="573328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Guidance earns authority through confirmation and repeated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Insights: Legibility Compounds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The first retained value signal is seeing where time actually goes.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pic>
        <p:nvPicPr>
          <p:cNvPr id="30" name="Picture 29" descr="insights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19"/>
            <a:ext cx="5669280" cy="505375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315200" y="1920240"/>
            <a:ext cx="5120640" cy="11430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315200" y="19202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15200" y="19202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289536" y="30632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435840" y="291693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34656" y="2148840"/>
            <a:ext cx="46817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Current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2596896"/>
            <a:ext cx="4681727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session history -&gt; bounded patterns -&gt; confidence tiers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429000"/>
            <a:ext cx="5120640" cy="11430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7315200" y="34290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5200" y="34290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289536" y="45720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435840" y="442569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534656" y="3657600"/>
            <a:ext cx="46817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Early user sentence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6" y="4105656"/>
            <a:ext cx="4681727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?I became more conscious of where my time was going.?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937760"/>
            <a:ext cx="5120640" cy="11430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7315200" y="49377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315200" y="49377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289536" y="60807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35840" y="593445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34656" y="5166360"/>
            <a:ext cx="46817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What improves with users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4656" y="5614416"/>
            <a:ext cx="4681727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confirmed patterns can become weak, testable priors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The Instrument Built Itself Through Reality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Every collision removed a weaker abstraction.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74519"/>
            <a:ext cx="3246120" cy="868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74519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74519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59935" y="2743200"/>
            <a:ext cx="146305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06240" y="259689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10312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Manual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51176"/>
            <a:ext cx="2807208" cy="457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too much friction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1874519"/>
            <a:ext cx="3246120" cy="868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029200" y="1874519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29200" y="1874519"/>
            <a:ext cx="0" cy="146305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29016" y="27432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75320" y="259689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48656" y="210312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Integrations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48656" y="2551176"/>
            <a:ext cx="2807208" cy="457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context, not truth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1874519"/>
            <a:ext cx="3246120" cy="868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098280" y="1874519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98280" y="1874519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198096" y="27432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344400" y="259689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317736" y="210312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Passive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7736" y="2551176"/>
            <a:ext cx="2807208" cy="457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less friction, more ambiguity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" y="3200400"/>
            <a:ext cx="3246120" cy="868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60120" y="32004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0120" y="32004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59935" y="4069080"/>
            <a:ext cx="146305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06240" y="392277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79576" y="342900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Personalization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9576" y="3877056"/>
            <a:ext cx="2807208" cy="457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must not become labels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3200400"/>
            <a:ext cx="3246120" cy="868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5029200" y="32004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29200" y="32004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29016" y="40690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75320" y="39227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248656" y="342900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Interventions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48656" y="3877056"/>
            <a:ext cx="2807208" cy="457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can change later behavior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3200400"/>
            <a:ext cx="3246120" cy="8686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9098280" y="32004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98280" y="32004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2198096" y="40690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2344400" y="392277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317736" y="342900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Two-app flow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7736" y="3877056"/>
            <a:ext cx="2807208" cy="457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kills adoption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58064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1005840" y="5806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840" y="58064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3478256" y="6428231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624560" y="6281927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207008" y="60076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Each contact with reality made Lyra more constrained, and therefore more general.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Baseet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Academic structure in. Student recovery out.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1828800"/>
            <a:ext cx="3474720" cy="22860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1440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42816" y="4114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89120" y="396849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33856" y="2057400"/>
            <a:ext cx="30358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Baseet contributes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2505456"/>
            <a:ext cx="3035808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courses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deadlines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resources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submission context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26280" y="2971800"/>
            <a:ext cx="82296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486400" y="1828800"/>
            <a:ext cx="3474720" cy="22860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48640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8640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14816" y="4114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61120" y="396849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05856" y="2057400"/>
            <a:ext cx="30358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Lyra converts into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05856" y="2505456"/>
            <a:ext cx="3035808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visible load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plan candidates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session prompts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recovery choices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98280" y="2971800"/>
            <a:ext cx="822960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058400" y="1828800"/>
            <a:ext cx="3474720" cy="22860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1005840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05840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86816" y="4114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3533120" y="396849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277856" y="2057400"/>
            <a:ext cx="30358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7856" y="2505456"/>
            <a:ext cx="3035808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provider signals are candidates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student confirmation resolves 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" y="571500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1005840" y="57150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05840" y="57150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3478256" y="6336792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624560" y="6190488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207008" y="591616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Baseet is one academic module over the LyraOS core, not the whole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Core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Provider-agnostic planning and recovery.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1828800"/>
            <a:ext cx="12618720" cy="868680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100584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584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478256" y="26974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624560" y="25511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34440" y="2139696"/>
            <a:ext cx="121615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0EFEA"/>
                </a:solidFill>
                <a:latin typeface="Aptos Display"/>
              </a:rPr>
              <a:t>obligations ? intentions ? session history ? interruptions ? drift ? recovery ? confirmation ? calibration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880360" y="2697480"/>
            <a:ext cx="4434840" cy="731520"/>
          </a:xfrm>
          <a:prstGeom prst="line">
            <a:avLst/>
          </a:prstGeom>
          <a:ln w="15240">
            <a:solidFill>
              <a:srgbClr val="545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234440" y="3429000"/>
            <a:ext cx="3337560" cy="13258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1234440" y="34290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34440" y="34290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425696" y="47548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46085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53896" y="3657600"/>
            <a:ext cx="289864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Academic module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53896" y="4105656"/>
            <a:ext cx="2898648" cy="5029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Baseet / Moodle / LMS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132320" y="2697480"/>
            <a:ext cx="182880" cy="731520"/>
          </a:xfrm>
          <a:prstGeom prst="line">
            <a:avLst/>
          </a:prstGeom>
          <a:ln w="15240">
            <a:solidFill>
              <a:srgbClr val="545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0" y="3429000"/>
            <a:ext cx="3337560" cy="13258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5486400" y="34290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486400" y="34290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77656" y="47548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823960" y="46085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05856" y="3657600"/>
            <a:ext cx="289864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Calendar module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05856" y="4105656"/>
            <a:ext cx="2898648" cy="5029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Google Calendar now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15200" y="2697480"/>
            <a:ext cx="4069080" cy="731520"/>
          </a:xfrm>
          <a:prstGeom prst="line">
            <a:avLst/>
          </a:prstGeom>
          <a:ln w="15240">
            <a:solidFill>
              <a:srgbClr val="545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738360" y="3429000"/>
            <a:ext cx="3337560" cy="132588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9738360" y="34290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738360" y="34290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929616" y="47548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075920" y="46085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957816" y="3657600"/>
            <a:ext cx="289864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Work module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57816" y="4105656"/>
            <a:ext cx="2898648" cy="5029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Jira / Linear / Notion later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58064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60"/>
          <p:cNvCxnSpPr/>
          <p:nvPr/>
        </p:nvCxnSpPr>
        <p:spPr>
          <a:xfrm>
            <a:off x="1005840" y="5806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5840" y="58064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3478256" y="6428231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3624560" y="6281927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207008" y="60076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Simple translation: planned work meets actual execution, then recovery becomes easier.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Architecture: Evidence Before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Capability and authority stay separate.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011680"/>
            <a:ext cx="214884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685800" y="2011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5800" y="201168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88336" y="38404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34640" y="36941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5256" y="2240280"/>
            <a:ext cx="17099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Inputs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2688336"/>
            <a:ext cx="170992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tasks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deadlines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sessions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34640" y="2926080"/>
            <a:ext cx="429768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447288" y="2011680"/>
            <a:ext cx="214884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3447288" y="2011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447288" y="201168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49824" y="38404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96128" y="36941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66744" y="2240280"/>
            <a:ext cx="17099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Provider-blind facts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6744" y="2688336"/>
            <a:ext cx="170992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obligations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activity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context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96128" y="2926080"/>
            <a:ext cx="429768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208776" y="2011680"/>
            <a:ext cx="214884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6208776" y="2011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208776" y="201168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11312" y="38404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57616" y="36941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428232" y="2240280"/>
            <a:ext cx="17099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Evidence gates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8232" y="2688336"/>
            <a:ext cx="170992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clean data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exposure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provenance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7616" y="2926080"/>
            <a:ext cx="429768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970264" y="2011680"/>
            <a:ext cx="214884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8970264" y="20116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970264" y="201168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972800" y="384048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119104" y="369417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189720" y="2240280"/>
            <a:ext cx="17099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ClaimCompiler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20" y="2688336"/>
            <a:ext cx="170992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allowed copy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min samples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1119104" y="2926080"/>
            <a:ext cx="429768" cy="0"/>
          </a:xfrm>
          <a:prstGeom prst="line">
            <a:avLst/>
          </a:prstGeom>
          <a:ln w="1524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1731752" y="2011680"/>
            <a:ext cx="2148840" cy="182880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11731752" y="20116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731752" y="201168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3734288" y="38404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880592" y="369417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951208" y="2240280"/>
            <a:ext cx="17099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Student surface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51208" y="2688336"/>
            <a:ext cx="1709928" cy="1005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pressure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insights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recovery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5840" y="53492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1005840" y="53492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05840" y="53492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478256" y="5971031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3624560" y="5824727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207008" y="55504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A surface can only say what the evidence boundary permits.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Student-Owned Consequences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Useful inference stays inside the student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28800"/>
            <a:ext cx="3749039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62855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59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Lyra can surface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05456"/>
            <a:ext cx="3310127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compressed weeks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stale sessions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uncertain sources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repair candidates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828800"/>
            <a:ext cx="3749039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4068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4068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43416" y="43891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9720" y="42428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013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Lyra asks before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0136" y="2505456"/>
            <a:ext cx="3310127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marking work done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changing task state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using provider progress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treating resources as covered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1828800"/>
            <a:ext cx="3520440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92124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2124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95376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441680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140696" y="2057400"/>
            <a:ext cx="30815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University pilot 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0696" y="2505456"/>
            <a:ext cx="3081528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aggregate feedback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approved exports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cohort-level learnings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566928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05840" y="56692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" y="566928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478256" y="6291072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0" y="6144768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207008" y="587044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Personal detail stays in the student workspace. Pilot learning is aggregate and approved.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Research Rigor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Research improves instrumentation accuracy without turning students into labels.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28800"/>
            <a:ext cx="32461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59935" y="2788920"/>
            <a:ext cx="146305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06240" y="2642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05740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Priors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05456"/>
            <a:ext cx="28072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cold-start estimates from literature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1828800"/>
            <a:ext cx="32461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02920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2920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29016" y="27889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75320" y="2642615"/>
            <a:ext cx="0" cy="146305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48656" y="205740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Confirmed 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48656" y="2505456"/>
            <a:ext cx="28072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student choices beat passive guesses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1828800"/>
            <a:ext cx="32461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09828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9828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198096" y="2788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344400" y="2642615"/>
            <a:ext cx="0" cy="146305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317736" y="205740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Clean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7736" y="2505456"/>
            <a:ext cx="28072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unknown and repaired traces stay marked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" y="3291840"/>
            <a:ext cx="32461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60120" y="32918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0120" y="329184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59935" y="4251960"/>
            <a:ext cx="146305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06240" y="410565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79576" y="352044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Exposure aware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9576" y="3968496"/>
            <a:ext cx="28072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prompts can change future behavior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3291840"/>
            <a:ext cx="32461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5029200" y="32918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29200" y="32918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29016" y="42519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75320" y="410565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248656" y="352044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Falsifiable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48656" y="3968496"/>
            <a:ext cx="28072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hypotheses need kill criteria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3291840"/>
            <a:ext cx="3246120" cy="960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9098280" y="32918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98280" y="329184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2198096" y="425196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2344400" y="410565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317736" y="3520440"/>
            <a:ext cx="28072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Weak clusters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17736" y="3968496"/>
            <a:ext cx="2807208" cy="137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97A0B5"/>
                </a:solidFill>
                <a:latin typeface="Aptos"/>
              </a:rPr>
              <a:t>planning priors, not identities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58064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1005840" y="5806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840" y="58064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3478256" y="6428231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624560" y="6281927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207008" y="60076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Signals earn authority through evidence, confirmation, and clean-data rules.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LyraSim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Pre-scale stress testing for ambiguous academic traces.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28800"/>
            <a:ext cx="3749039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62855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59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Scenarios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05456"/>
            <a:ext cx="3310127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idle resource open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background video fakeout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multi-device upload collision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reverse provider progress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duplicate deadlines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828800"/>
            <a:ext cx="3749039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4068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4068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43416" y="43891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9720" y="42428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013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Failure classes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0136" y="2505456"/>
            <a:ext cx="3310127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provider overclaiming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clean-data contamination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unsafe mutation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missing recovery option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prompt spam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1828800"/>
            <a:ext cx="3520440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92124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2124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95376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441680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140696" y="2057400"/>
            <a:ext cx="30815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Scale discipline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0696" y="2505456"/>
            <a:ext cx="3081528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deterministic replay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CI checks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kill switches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browser smoke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student feedback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566928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05840" y="56692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" y="566928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478256" y="6291072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0" y="6144768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207008" y="587044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Broad scale is earned by product seams and real feedback, not by confidence alone.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Current Value vs Future-Gated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The vision is sequenced, not hand-waved.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1828800"/>
            <a:ext cx="5486400" cy="3246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114300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4300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83096" y="50749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29400" y="49286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62456" y="2057400"/>
            <a:ext cx="504748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Current / dogfooded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" y="2505456"/>
            <a:ext cx="5047488" cy="2423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brain dump onboarding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task planning + timers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missed-plan recovery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calendar + deadline views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Moodle context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Pulse pressure map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Insights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1828800"/>
            <a:ext cx="5486400" cy="32461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754380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4380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883896" y="50749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030200" y="49286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63256" y="2057400"/>
            <a:ext cx="504748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Future-gated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3256" y="2505456"/>
            <a:ext cx="5047488" cy="2423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live Baseet module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provider progress candidates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session-continuity estimates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hypothesis-based prompts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AI over evidence packets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7A0B5"/>
                </a:solidFill>
                <a:latin typeface="Aptos"/>
              </a:rPr>
              <a:t>adaptive scheduling experiments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" y="58064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005840" y="5806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5840" y="58064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478256" y="6428231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624560" y="6281927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207008" y="60076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Future features stay confirmation-first, low-authority, and student-controlled.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Data Access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The access boundary is simple enough to explain.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28800"/>
            <a:ext cx="3749039" cy="283464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62855" y="4663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59" y="451713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Student workspace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05456"/>
            <a:ext cx="3310127" cy="2011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personal pressure map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plans + sessions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confirmations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recovery choices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own history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export / delete / disconnect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828800"/>
            <a:ext cx="3749039" cy="283464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4068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4068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43416" y="46634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9720" y="451713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013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University / Baseet 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0136" y="2505456"/>
            <a:ext cx="3310127" cy="2011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aggregate pilot feedback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course/week workload patterns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approved cohort summaries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1828800"/>
            <a:ext cx="3520440" cy="283464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92124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2124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95376" y="4663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441680" y="451713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140696" y="2057400"/>
            <a:ext cx="30815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Research/export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0696" y="2505456"/>
            <a:ext cx="3081528" cy="2011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explicit consent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pseudonymized or aggregated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prompt-history aware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97A0B5"/>
                </a:solidFill>
                <a:latin typeface="Aptos"/>
              </a:rPr>
              <a:t>no raw private activity reports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589788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05840" y="58978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" y="589788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478256" y="6519672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0" y="6373368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207008" y="6099048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Reviewer takeaway: private help for students, aggregate learning for the pilot.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Pilot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Small, useful, easy to narrow.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1828800"/>
            <a:ext cx="3749039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62855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59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Start with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" y="2505456"/>
            <a:ext cx="3310127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opt-in student cohort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Baseet-oriented demo group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student-facing surfaces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deadlines + pressure map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1828800"/>
            <a:ext cx="3749039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40680" y="182880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40680" y="182880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43416" y="438912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89720" y="424281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0136" y="2057400"/>
            <a:ext cx="3310127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Success looks like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0136" y="2505456"/>
            <a:ext cx="3310127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students plan earlier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recover faster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understand where time goes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prompts feel supportive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1828800"/>
            <a:ext cx="3520440" cy="256032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9921240" y="182880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21240" y="182880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295376" y="438912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441680" y="4242816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140696" y="2057400"/>
            <a:ext cx="308152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Narrow when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0696" y="2505456"/>
            <a:ext cx="3081528" cy="173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prompts add stress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provider context misleads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recovery feels wrong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boundaries feel unclear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" y="580644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05840" y="580644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" y="580644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478256" y="6428231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624560" y="6281927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207008" y="6007607"/>
            <a:ext cx="12207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0EFEA"/>
                </a:solidFill>
                <a:latin typeface="Aptos Display"/>
              </a:rPr>
              <a:t>The pilot is designed to learn quickly and stay containable.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64008"/>
          </a:xfrm>
          <a:prstGeom prst="rect">
            <a:avLst/>
          </a:prstGeom>
          <a:solidFill>
            <a:srgbClr val="4D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3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7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1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59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64640" y="64008"/>
            <a:ext cx="0" cy="8165592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0972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1945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29184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38912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58368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7680960"/>
            <a:ext cx="14630400" cy="0"/>
          </a:xfrm>
          <a:prstGeom prst="line">
            <a:avLst/>
          </a:prstGeom>
          <a:ln w="5715">
            <a:solidFill>
              <a:srgbClr val="1620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114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6112" y="475488"/>
            <a:ext cx="12801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4DD4E8"/>
                </a:solidFill>
                <a:latin typeface="Cascadia Mono"/>
              </a:rPr>
              <a:t>// LYRAOS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7400" y="475488"/>
            <a:ext cx="411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545F79"/>
                </a:solidFill>
                <a:latin typeface="Cascadia Mono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024128"/>
            <a:ext cx="11704320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0EFEA"/>
                </a:solidFill>
                <a:latin typeface="Aptos Display"/>
              </a:rPr>
              <a:t>The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1536192"/>
            <a:ext cx="11521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97A0B5"/>
                </a:solidFill>
                <a:latin typeface="Cascadia Mono"/>
              </a:rPr>
              <a:t>Review Lyra as a student-owned academic load and recovery pilot.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7845552"/>
            <a:ext cx="6583680" cy="1463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00" b="0">
                <a:solidFill>
                  <a:srgbClr val="545F79"/>
                </a:solidFill>
                <a:latin typeface="Cascadia Mono"/>
              </a:rPr>
              <a:t>lyraos // university reviewer deck // student-owned load + recovery</a:t>
            </a:r>
          </a:p>
        </p:txBody>
      </p:sp>
      <p:pic>
        <p:nvPicPr>
          <p:cNvPr id="30" name="Picture 29" descr="lyra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645920"/>
            <a:ext cx="1325880" cy="1325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" y="2057400"/>
            <a:ext cx="84124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F0EFEA"/>
                </a:solidFill>
                <a:latin typeface="Aptos Display"/>
              </a:rPr>
              <a:t>Let students test whether academic pressure becomes easier to see, plan, and recover from.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4069080"/>
            <a:ext cx="10515600" cy="1051560"/>
          </a:xfrm>
          <a:prstGeom prst="rect">
            <a:avLst/>
          </a:prstGeom>
          <a:solidFill>
            <a:srgbClr val="141B2A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1234440" y="406908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34440" y="4069080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603736" y="5120640"/>
            <a:ext cx="146304" cy="0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750040" y="4974336"/>
            <a:ext cx="0" cy="146304"/>
          </a:xfrm>
          <a:prstGeom prst="line">
            <a:avLst/>
          </a:prstGeom>
          <a:ln w="2286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3896" y="4297680"/>
            <a:ext cx="1007668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0EFEA"/>
                </a:solidFill>
                <a:latin typeface="Aptos Display"/>
              </a:rPr>
              <a:t>Next 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53896" y="4745736"/>
            <a:ext cx="10076688" cy="22859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97A0B5"/>
                </a:solidFill>
                <a:latin typeface="Aptos"/>
              </a:rPr>
              <a:t>Run a small Baseet-oriented demo cohort around the pressure map, recovery loop, and confirmation-first workflow.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6080760"/>
            <a:ext cx="12618720" cy="621792"/>
          </a:xfrm>
          <a:prstGeom prst="rect">
            <a:avLst/>
          </a:prstGeom>
          <a:solidFill>
            <a:srgbClr val="0A0E18"/>
          </a:solidFill>
          <a:ln w="1016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1005840" y="6080760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05840" y="6080760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478256" y="6702552"/>
            <a:ext cx="146304" cy="0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624560" y="6556248"/>
            <a:ext cx="0" cy="146304"/>
          </a:xfrm>
          <a:prstGeom prst="line">
            <a:avLst/>
          </a:prstGeom>
          <a:ln w="22860">
            <a:solidFill>
              <a:srgbClr val="4D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07008" y="6281928"/>
            <a:ext cx="122072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dirty="0">
                <a:solidFill>
                  <a:srgbClr val="F0EFEA"/>
                </a:solidFill>
                <a:latin typeface="Aptos Display"/>
              </a:rPr>
              <a:t>If one thing sticks: Lyra turns </a:t>
            </a:r>
            <a:r>
              <a:rPr lang="en-US" sz="1600" b="1" dirty="0">
                <a:solidFill>
                  <a:srgbClr val="F0EFEA"/>
                </a:solidFill>
                <a:latin typeface="Aptos Display"/>
              </a:rPr>
              <a:t> study </a:t>
            </a:r>
            <a:r>
              <a:rPr sz="1600" b="1" dirty="0">
                <a:solidFill>
                  <a:srgbClr val="F0EFEA"/>
                </a:solidFill>
                <a:latin typeface="Aptos Display"/>
              </a:rPr>
              <a:t>drift into a recoverable next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1476</Words>
  <Application>Microsoft Office PowerPoint</Application>
  <PresentationFormat>Custom</PresentationFormat>
  <Paragraphs>348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Nasser</cp:lastModifiedBy>
  <cp:revision>2</cp:revision>
  <dcterms:created xsi:type="dcterms:W3CDTF">2013-01-27T09:14:16Z</dcterms:created>
  <dcterms:modified xsi:type="dcterms:W3CDTF">2026-05-23T10:20:44Z</dcterms:modified>
  <cp:category/>
</cp:coreProperties>
</file>