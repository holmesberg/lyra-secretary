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LyraOS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0195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CC6C8"/>
                </a:solidFill>
                <a:latin typeface="Aptos"/>
              </a:rPr>
              <a:t>Student-owned academic load, planning, and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pic>
        <p:nvPicPr>
          <p:cNvPr id="8" name="Picture 7" descr="lyrao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2551176"/>
            <a:ext cx="1947672" cy="19476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468880" y="2359152"/>
            <a:ext cx="5669280" cy="2331720"/>
          </a:xfrm>
          <a:prstGeom prst="rect">
            <a:avLst/>
          </a:prstGeom>
          <a:solidFill>
            <a:srgbClr val="161D22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2468880" y="2359152"/>
            <a:ext cx="0" cy="2331720"/>
          </a:xfrm>
          <a:prstGeom prst="line">
            <a:avLst/>
          </a:prstGeom>
          <a:ln w="3810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88920" y="2651760"/>
            <a:ext cx="5010912" cy="1801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dirty="0">
                <a:solidFill>
                  <a:srgbClr val="F5F7F5"/>
                </a:solidFill>
                <a:latin typeface="Aptos Display"/>
              </a:rPr>
              <a:t>Load becomes visible.</a:t>
            </a:r>
            <a:br>
              <a:rPr dirty="0"/>
            </a:br>
            <a:r>
              <a:rPr sz="2400" b="1" dirty="0">
                <a:solidFill>
                  <a:srgbClr val="F5F7F5"/>
                </a:solidFill>
                <a:latin typeface="Aptos Display"/>
              </a:rPr>
              <a:t>Plans become executable.</a:t>
            </a:r>
            <a:br>
              <a:rPr dirty="0"/>
            </a:br>
            <a:r>
              <a:rPr sz="2400" b="1" dirty="0">
                <a:solidFill>
                  <a:srgbClr val="F5F7F5"/>
                </a:solidFill>
                <a:latin typeface="Aptos Display"/>
              </a:rPr>
              <a:t>Drift becomes recoverable.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2542032"/>
            <a:ext cx="3566160" cy="15544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28048" y="2743200"/>
            <a:ext cx="31638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Core promise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8048" y="3145536"/>
            <a:ext cx="3163824" cy="841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A workspace that helps students see the week, choose the next move, and recover before pressure compounds.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The pilot tests the first useful surface of a bigger planning and recovery layer.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STUDENT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Maya opens Lyra Sunday night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0195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CC6C8"/>
                </a:solidFill>
                <a:latin typeface="Aptos"/>
              </a:rPr>
              <a:t>She has deadlines. What she needs is reality contact.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743200"/>
            <a:ext cx="1097280" cy="329184"/>
          </a:xfrm>
          <a:prstGeom prst="rect">
            <a:avLst/>
          </a:prstGeom>
          <a:solidFill>
            <a:srgbClr val="161D22"/>
          </a:solidFill>
          <a:ln w="8890">
            <a:solidFill>
              <a:srgbClr val="00B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0B284"/>
                </a:solidFill>
                <a:latin typeface="Cascadia Mono"/>
              </a:rPr>
              <a:t>8:45 PM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200400"/>
            <a:ext cx="2606040" cy="123444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9848" y="3401568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Deadline 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803904"/>
            <a:ext cx="2203704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Three items land close together.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74720" y="3822191"/>
            <a:ext cx="548640" cy="0"/>
          </a:xfrm>
          <a:prstGeom prst="line">
            <a:avLst/>
          </a:prstGeom>
          <a:ln w="1524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206240" y="2743200"/>
            <a:ext cx="1097280" cy="329184"/>
          </a:xfrm>
          <a:prstGeom prst="rect">
            <a:avLst/>
          </a:prstGeom>
          <a:solidFill>
            <a:srgbClr val="161D22"/>
          </a:solidFill>
          <a:ln w="8890">
            <a:solidFill>
              <a:srgbClr val="F5A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06240" y="2834640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F5A96A"/>
                </a:solidFill>
                <a:latin typeface="Cascadia Mono"/>
              </a:rPr>
              <a:t>9:10 PM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200400"/>
            <a:ext cx="2606040" cy="123444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07407" y="3401568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Plan meets reality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7" y="3803904"/>
            <a:ext cx="2203704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The first block slips.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12279" y="3822191"/>
            <a:ext cx="548641" cy="0"/>
          </a:xfrm>
          <a:prstGeom prst="line">
            <a:avLst/>
          </a:prstGeom>
          <a:ln w="1524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543800" y="2743200"/>
            <a:ext cx="1097280" cy="329184"/>
          </a:xfrm>
          <a:prstGeom prst="rect">
            <a:avLst/>
          </a:prstGeom>
          <a:solidFill>
            <a:srgbClr val="161D22"/>
          </a:solidFill>
          <a:ln w="8890">
            <a:solidFill>
              <a:srgbClr val="EA5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2834640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EA5D4D"/>
                </a:solidFill>
                <a:latin typeface="Cascadia Mono"/>
              </a:rPr>
              <a:t>10:30 PM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3200400"/>
            <a:ext cx="2606040" cy="123444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44968" y="3401568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EA5D4D"/>
                </a:solidFill>
                <a:latin typeface="Cascadia Mono"/>
              </a:rPr>
              <a:t>The week changed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3803904"/>
            <a:ext cx="2203704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The old plan is now fiction.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149840" y="3822191"/>
            <a:ext cx="548640" cy="0"/>
          </a:xfrm>
          <a:prstGeom prst="line">
            <a:avLst/>
          </a:prstGeom>
          <a:ln w="15240">
            <a:solidFill>
              <a:srgbClr val="EA5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881359" y="2743200"/>
            <a:ext cx="1097280" cy="329184"/>
          </a:xfrm>
          <a:prstGeom prst="rect">
            <a:avLst/>
          </a:prstGeom>
          <a:solidFill>
            <a:srgbClr val="161D22"/>
          </a:solidFill>
          <a:ln w="8890">
            <a:solidFill>
              <a:srgbClr val="00B2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81359" y="2834640"/>
            <a:ext cx="10972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00B284"/>
                </a:solidFill>
                <a:latin typeface="Cascadia Mono"/>
              </a:rPr>
              <a:t>10:32 PM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81359" y="3200400"/>
            <a:ext cx="2606040" cy="123444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082528" y="3401568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Recovery choice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82528" y="3803904"/>
            <a:ext cx="2203704" cy="5212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Record done, partial, split, or adjust.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Lyra turns academic drift into a concrete next interaction.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MISSING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Existing tools store pieces. Lyra shows the collision.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0195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CC6C8"/>
                </a:solidFill>
                <a:latin typeface="Aptos"/>
              </a:rPr>
              <a:t>This is the layer between academic structure and actual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743200"/>
            <a:ext cx="2606040" cy="16459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944368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LMS / Baseet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346704"/>
            <a:ext cx="220370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deadlines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resources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course structure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29000" y="3566160"/>
            <a:ext cx="502920" cy="0"/>
          </a:xfrm>
          <a:prstGeom prst="line">
            <a:avLst/>
          </a:prstGeom>
          <a:ln w="1524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069080" y="2743200"/>
            <a:ext cx="2606040" cy="16459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70248" y="2944368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Calendar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3346704"/>
            <a:ext cx="220370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availability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time blocks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675120" y="3566160"/>
            <a:ext cx="502920" cy="0"/>
          </a:xfrm>
          <a:prstGeom prst="line">
            <a:avLst/>
          </a:prstGeom>
          <a:ln w="1524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315200" y="2743200"/>
            <a:ext cx="2606040" cy="16459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16368" y="2944368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Task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3346704"/>
            <a:ext cx="220370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intentions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checklists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921240" y="3566160"/>
            <a:ext cx="502920" cy="0"/>
          </a:xfrm>
          <a:prstGeom prst="line">
            <a:avLst/>
          </a:prstGeom>
          <a:ln w="1524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0561319" y="2743200"/>
            <a:ext cx="2606040" cy="16459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62488" y="2944368"/>
            <a:ext cx="22037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LyraOS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62488" y="3346704"/>
            <a:ext cx="220370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load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execution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drift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recovery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Lyra helps students maintain contact between intention, time, action, and consequence.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FIRST VALUE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From messy week to explainable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0195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CC6C8"/>
                </a:solidFill>
                <a:latin typeface="Aptos"/>
              </a:rPr>
              <a:t>A web app today. Baseet is one academic provider module for the pilot.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514600"/>
            <a:ext cx="2926080" cy="14173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715768"/>
            <a:ext cx="25237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Provider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118104"/>
            <a:ext cx="2523744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Baseet or Moodle reduces manual entry.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3218688"/>
            <a:ext cx="640080" cy="0"/>
          </a:xfrm>
          <a:prstGeom prst="line">
            <a:avLst/>
          </a:prstGeom>
          <a:ln w="1651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617720" y="2514600"/>
            <a:ext cx="2926080" cy="14173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18888" y="2715768"/>
            <a:ext cx="25237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Optional brain dump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3118104"/>
            <a:ext cx="2523744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Useful when work is messy or outside the provider.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3218688"/>
            <a:ext cx="640080" cy="0"/>
          </a:xfrm>
          <a:prstGeom prst="line">
            <a:avLst/>
          </a:prstGeom>
          <a:ln w="1651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366760" y="2514600"/>
            <a:ext cx="3657600" cy="14173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67928" y="2715768"/>
            <a:ext cx="32552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Pressure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7928" y="3118104"/>
            <a:ext cx="3255264" cy="7040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The week becomes understandable enough to act on.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Brain dump stays valuable, but Baseet should make the academic module lighter to 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PRODUCT 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Pressure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0195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CC6C8"/>
                </a:solidFill>
                <a:latin typeface="Aptos"/>
              </a:rPr>
              <a:t>The first moment where the week becomes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423160"/>
            <a:ext cx="7452360" cy="2834640"/>
          </a:xfrm>
          <a:prstGeom prst="rect">
            <a:avLst/>
          </a:prstGeom>
          <a:solidFill>
            <a:srgbClr val="161D22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7249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0B284"/>
                </a:solidFill>
                <a:latin typeface="Cascadia Mono"/>
              </a:rPr>
              <a:t>VISIBLE ACADEMIC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82112"/>
            <a:ext cx="658368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>
                <a:solidFill>
                  <a:srgbClr val="F5F7F5"/>
                </a:solidFill>
                <a:latin typeface="Aptos Display"/>
              </a:rPr>
              <a:t>Visible load is 9-14 hours: a range, not fake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06240"/>
            <a:ext cx="6309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BCC6C8"/>
                </a:solidFill>
                <a:latin typeface="Aptos"/>
              </a:rPr>
              <a:t>3 deadlines cluster within 48 hours.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CC6C8"/>
                </a:solidFill>
                <a:latin typeface="Aptos"/>
              </a:rPr>
              <a:t>2 imported items need coverage confirmation.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20" y="2423160"/>
            <a:ext cx="3474720" cy="841248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90888" y="2624328"/>
            <a:ext cx="3072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Ranges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0888" y="3026664"/>
            <a:ext cx="307238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uncertainty is 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3456432"/>
            <a:ext cx="3474720" cy="841248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90888" y="3657600"/>
            <a:ext cx="3072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Trust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4059935"/>
            <a:ext cx="307238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source confidence is named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4489704"/>
            <a:ext cx="3474720" cy="841248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90888" y="4690872"/>
            <a:ext cx="3072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Recovery options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0888" y="5093208"/>
            <a:ext cx="3072384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the next move is selectable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This is the aha: the student can finally see why the week feels compressed.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When plans drift, Lyra keeps continuity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0195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CC6C8"/>
                </a:solidFill>
                <a:latin typeface="Aptos"/>
              </a:rPr>
              <a:t>Most tools go stale when plans fail. Lyra makes drift the next interaction.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834640"/>
            <a:ext cx="2743200" cy="13258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303580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Missed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438144"/>
            <a:ext cx="2340864" cy="612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Maya did not finish the planned block.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03320" y="3493008"/>
            <a:ext cx="640080" cy="0"/>
          </a:xfrm>
          <a:prstGeom prst="line">
            <a:avLst/>
          </a:prstGeom>
          <a:ln w="1651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434840" y="2834640"/>
            <a:ext cx="2743200" cy="13258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3035808"/>
            <a:ext cx="2340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Recovery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3438144"/>
            <a:ext cx="2340864" cy="612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Choose how the session should be recorded.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69480" y="3493008"/>
            <a:ext cx="640080" cy="0"/>
          </a:xfrm>
          <a:prstGeom prst="line">
            <a:avLst/>
          </a:prstGeom>
          <a:ln w="1651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8001000" y="2395728"/>
            <a:ext cx="4069080" cy="219456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2596896"/>
            <a:ext cx="36667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Student choices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999232"/>
            <a:ext cx="3666744" cy="1481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BCC6C8"/>
                </a:solidFill>
                <a:latin typeface="Aptos"/>
              </a:rPr>
              <a:t>mark done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BCC6C8"/>
                </a:solidFill>
                <a:latin typeface="Aptos"/>
              </a:rPr>
              <a:t>mark partial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BCC6C8"/>
                </a:solidFill>
                <a:latin typeface="Aptos"/>
              </a:rPr>
              <a:t>split remaining work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BCC6C8"/>
                </a:solidFill>
                <a:latin typeface="Aptos"/>
              </a:rPr>
              <a:t>adjust session duration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The value is not magic mutation. The value is a clear user decision at the moment of drift.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A mirror with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pic>
        <p:nvPicPr>
          <p:cNvPr id="7" name="Picture 6" descr="insights-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963" y="109729"/>
            <a:ext cx="8983978" cy="80085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68680" y="1874519"/>
            <a:ext cx="4160520" cy="1417320"/>
          </a:xfrm>
          <a:prstGeom prst="rect">
            <a:avLst/>
          </a:prstGeom>
          <a:solidFill>
            <a:srgbClr val="161D22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868680" y="1874519"/>
            <a:ext cx="0" cy="1417320"/>
          </a:xfrm>
          <a:prstGeom prst="line">
            <a:avLst/>
          </a:prstGeom>
          <a:ln w="3810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88719" y="2167127"/>
            <a:ext cx="3502152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5F7F5"/>
                </a:solidFill>
                <a:latin typeface="Aptos Display"/>
              </a:rPr>
              <a:t>"It made me more aware of where my time is being spent."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749039"/>
            <a:ext cx="4160520" cy="9601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3950207"/>
            <a:ext cx="375818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What it reveals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4352544"/>
            <a:ext cx="3758183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where plans drift repeatedly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5074920"/>
            <a:ext cx="4160520" cy="9601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5276088"/>
            <a:ext cx="375818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What compounds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5678424"/>
            <a:ext cx="3758183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confirmed patterns make planning less fictional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PROVIDER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Why Baseet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0195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CC6C8"/>
                </a:solidFill>
                <a:latin typeface="Aptos"/>
              </a:rPr>
              <a:t>Baseet is the academic structure provider for this pilot.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423160"/>
            <a:ext cx="3246120" cy="16459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624328"/>
            <a:ext cx="2843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Provider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026664"/>
            <a:ext cx="284378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organize courses, deadlines, resources, and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0" y="3246120"/>
            <a:ext cx="777240" cy="0"/>
          </a:xfrm>
          <a:prstGeom prst="line">
            <a:avLst/>
          </a:prstGeom>
          <a:ln w="1778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166360" y="2423160"/>
            <a:ext cx="3246120" cy="16459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67528" y="2624328"/>
            <a:ext cx="28437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Lyra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3026664"/>
            <a:ext cx="284378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turns context into planning, execution, and recovery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95360" y="3246120"/>
            <a:ext cx="777240" cy="0"/>
          </a:xfrm>
          <a:prstGeom prst="line">
            <a:avLst/>
          </a:prstGeom>
          <a:ln w="1778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464040" y="2423160"/>
            <a:ext cx="3611880" cy="16459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65208" y="2624328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Plugin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5208" y="3026664"/>
            <a:ext cx="320954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the same adapter idea can fit Moodle, Canvas, Calendar, or future systems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Provider systems organize context. Lyra helps students act on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COMPOUNDING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Lyra improves because reality leaves traces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0195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CC6C8"/>
                </a:solidFill>
                <a:latin typeface="Aptos"/>
              </a:rPr>
              <a:t>The compounding signal is confirmed use, not hidden interpretation.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77440"/>
            <a:ext cx="3337560" cy="182880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578608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980944"/>
            <a:ext cx="2935224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sessions, estimates, deadline pressure, and recovery choices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89120" y="3291840"/>
            <a:ext cx="685800" cy="0"/>
          </a:xfrm>
          <a:prstGeom prst="line">
            <a:avLst/>
          </a:prstGeom>
          <a:ln w="1778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166360" y="2377440"/>
            <a:ext cx="3337560" cy="182880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67528" y="2578608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2980944"/>
            <a:ext cx="2935224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students resolve ambiguity through small decisions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0" y="3291840"/>
            <a:ext cx="685800" cy="0"/>
          </a:xfrm>
          <a:prstGeom prst="line">
            <a:avLst/>
          </a:prstGeom>
          <a:ln w="1778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464040" y="2377440"/>
            <a:ext cx="3337560" cy="182880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65208" y="2578608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Calibrate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5208" y="2980944"/>
            <a:ext cx="2935224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F5F7F5"/>
                </a:solidFill>
                <a:latin typeface="Aptos"/>
              </a:rPr>
              <a:t>future plans become less fictional over time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The deeper product: make intention-versus-execution visible, repairable, and eventually learnable.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REALITY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Built Through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0195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CC6C8"/>
                </a:solidFill>
                <a:latin typeface="Aptos"/>
              </a:rPr>
              <a:t>The current prototype emerged through rapid iteration under real academic pressure.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240280"/>
            <a:ext cx="6126480" cy="1325880"/>
          </a:xfrm>
          <a:prstGeom prst="rect">
            <a:avLst/>
          </a:prstGeom>
          <a:solidFill>
            <a:srgbClr val="161D22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868680" y="2240280"/>
            <a:ext cx="0" cy="1325880"/>
          </a:xfrm>
          <a:prstGeom prst="line">
            <a:avLst/>
          </a:prstGeom>
          <a:ln w="3810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88719" y="2532888"/>
            <a:ext cx="5468112" cy="795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5F7F5"/>
                </a:solidFill>
                <a:latin typeface="Aptos Display"/>
              </a:rPr>
              <a:t>Real use kept breaking simpler assumptions.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343400"/>
            <a:ext cx="214884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4544568"/>
            <a:ext cx="17465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4946904"/>
            <a:ext cx="1746504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F5F7F5"/>
                </a:solidFill>
                <a:latin typeface="Aptos"/>
              </a:rPr>
              <a:t>manual tracking was too heavy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4343400"/>
            <a:ext cx="214884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75887" y="4544568"/>
            <a:ext cx="17465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4946904"/>
            <a:ext cx="1746504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F5F7F5"/>
                </a:solidFill>
                <a:latin typeface="Aptos"/>
              </a:rPr>
              <a:t>context was not truth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4343400"/>
            <a:ext cx="214884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1928" y="4544568"/>
            <a:ext cx="17465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ambiguity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4946904"/>
            <a:ext cx="1746504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F5F7F5"/>
                </a:solidFill>
                <a:latin typeface="Aptos"/>
              </a:rPr>
              <a:t>passive activity needed confirmation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4343400"/>
            <a:ext cx="214884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87968" y="4544568"/>
            <a:ext cx="17465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intervention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4946904"/>
            <a:ext cx="1746504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F5F7F5"/>
                </a:solidFill>
                <a:latin typeface="Aptos"/>
              </a:rPr>
              <a:t>prompts change later behavior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292840" y="4343400"/>
            <a:ext cx="214884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94008" y="4544568"/>
            <a:ext cx="17465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adoption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94008" y="4946904"/>
            <a:ext cx="1746504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000" b="0">
                <a:solidFill>
                  <a:srgbClr val="F5F7F5"/>
                </a:solidFill>
                <a:latin typeface="Aptos"/>
              </a:rPr>
              <a:t>two-app flow kills momentum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Invariant that survived: intention -&gt; execution -&gt; interruption -&gt; drift -&gt; recalibration.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UNIVERSITY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What the university learns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0195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CC6C8"/>
                </a:solidFill>
                <a:latin typeface="Aptos"/>
              </a:rPr>
              <a:t>Aggregate pilot learning about workload shape and support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31720"/>
            <a:ext cx="2926080" cy="182880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532888"/>
            <a:ext cx="25237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Workload realism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935224"/>
            <a:ext cx="2523744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where student-reported recovery difficulty appears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331720"/>
            <a:ext cx="2926080" cy="182880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61688" y="2532888"/>
            <a:ext cx="25237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Deadline clustering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935224"/>
            <a:ext cx="2523744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which weeks compress load beyond realistic recovery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331720"/>
            <a:ext cx="2926080" cy="182880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53528" y="2532888"/>
            <a:ext cx="25237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Recovery friction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2935224"/>
            <a:ext cx="2523744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which pressure patterns create unresolved drift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44200" y="2331720"/>
            <a:ext cx="2331720" cy="182880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45368" y="2532888"/>
            <a:ext cx="1929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45368" y="2935224"/>
            <a:ext cx="1929384" cy="1115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5F7F5"/>
                </a:solidFill>
                <a:latin typeface="Aptos"/>
              </a:rPr>
              <a:t>when pressure peaks across the pilot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7242048"/>
            <a:ext cx="126187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F5F7F5"/>
                </a:solidFill>
                <a:latin typeface="Aptos"/>
              </a:rPr>
              <a:t>The university gets better instrumentation for </a:t>
            </a:r>
            <a:r>
              <a:rPr sz="1300" b="1">
                <a:solidFill>
                  <a:srgbClr val="F5F7F5"/>
                </a:solidFill>
                <a:latin typeface="Aptos"/>
              </a:rPr>
              <a:t>academic loa</a:t>
            </a:r>
            <a:r>
              <a:rPr lang="en-US" sz="1300" b="1">
                <a:solidFill>
                  <a:srgbClr val="F5F7F5"/>
                </a:solidFill>
                <a:latin typeface="Aptos"/>
              </a:rPr>
              <a:t>d.</a:t>
            </a:r>
            <a:endParaRPr sz="1300" b="1">
              <a:solidFill>
                <a:srgbClr val="F5F7F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Pilot success is measured, not guessed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31615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dirty="0">
                <a:solidFill>
                  <a:srgbClr val="BCC6C8"/>
                </a:solidFill>
                <a:latin typeface="Aptos"/>
              </a:rPr>
              <a:t>Surveys are primary. Dashboard signals explain what happened.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057400"/>
            <a:ext cx="5852160" cy="29260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258568"/>
            <a:ext cx="54498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Primary survey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660904"/>
            <a:ext cx="5449824" cy="2212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BCC6C8"/>
                </a:solidFill>
                <a:latin typeface="Aptos"/>
              </a:rPr>
              <a:t>planning clarity improved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CC6C8"/>
                </a:solidFill>
                <a:latin typeface="Aptos"/>
              </a:rPr>
              <a:t>pressure map helped prioritize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CC6C8"/>
                </a:solidFill>
                <a:latin typeface="Aptos"/>
              </a:rPr>
              <a:t>recovery prompt was useful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CC6C8"/>
                </a:solidFill>
                <a:latin typeface="Aptos"/>
              </a:rPr>
              <a:t>workflow felt low-friction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CC6C8"/>
                </a:solidFill>
                <a:latin typeface="Aptos"/>
              </a:rPr>
              <a:t>student would keep using Lyra during deadline-heavy weeks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2057400"/>
            <a:ext cx="5303520" cy="29260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62088" y="2258568"/>
            <a:ext cx="490118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Supporting dashboard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2088" y="2660904"/>
            <a:ext cx="4901183" cy="2212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BCC6C8"/>
                </a:solidFill>
                <a:latin typeface="Aptos"/>
              </a:rPr>
              <a:t>activation and weekly active use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CC6C8"/>
                </a:solidFill>
                <a:latin typeface="Aptos"/>
              </a:rPr>
              <a:t>pressure map revisit rate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CC6C8"/>
                </a:solidFill>
                <a:latin typeface="Aptos"/>
              </a:rPr>
              <a:t>recovery prompt completion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CC6C8"/>
                </a:solidFill>
                <a:latin typeface="Aptos"/>
              </a:rPr>
              <a:t>reduced unresolved stale sessions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BCC6C8"/>
                </a:solidFill>
                <a:latin typeface="Aptos"/>
              </a:rPr>
              <a:t>export and settings discoverability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A good pilot proves usefulness and trust before expansion.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00B284"/>
                </a:solidFill>
                <a:latin typeface="Cascadia Mono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901952"/>
            <a:ext cx="9966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BCC6C8"/>
                </a:solidFill>
                <a:latin typeface="Aptos"/>
              </a:rPr>
              <a:t>Run a small opt-in Baseet-oriented demo cohort.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94560"/>
            <a:ext cx="7589520" cy="1463040"/>
          </a:xfrm>
          <a:prstGeom prst="rect">
            <a:avLst/>
          </a:prstGeom>
          <a:solidFill>
            <a:srgbClr val="161D22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868680" y="2194560"/>
            <a:ext cx="0" cy="1463040"/>
          </a:xfrm>
          <a:prstGeom prst="line">
            <a:avLst/>
          </a:prstGeom>
          <a:ln w="3810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88719" y="2487168"/>
            <a:ext cx="693115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F5F7F5"/>
                </a:solidFill>
                <a:latin typeface="Aptos Display"/>
              </a:rPr>
              <a:t>Let students test whether academic pressure becomes easier to see, plan, and recover from.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2148840"/>
            <a:ext cx="3886200" cy="251460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45168" y="2350008"/>
            <a:ext cx="348386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Pilot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45168" y="2752344"/>
            <a:ext cx="3483864" cy="1801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BCC6C8"/>
                </a:solidFill>
                <a:latin typeface="Aptos"/>
              </a:rPr>
              <a:t>pressure map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BCC6C8"/>
                </a:solidFill>
                <a:latin typeface="Aptos"/>
              </a:rPr>
              <a:t>recovery loop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BCC6C8"/>
                </a:solidFill>
                <a:latin typeface="Aptos"/>
              </a:rPr>
              <a:t>student confirmations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BCC6C8"/>
                </a:solidFill>
                <a:latin typeface="Aptos"/>
              </a:rPr>
              <a:t>survey and dashboard readout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This is a contained test of the first value moment, not broad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BACKUP /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27280" y="51206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F5A96A"/>
                </a:solidFill>
                <a:latin typeface="Cascadia Mon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F5A96A"/>
                </a:solidFill>
                <a:latin typeface="Cascadia Mono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Data Access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48840"/>
            <a:ext cx="3703320" cy="23317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350008"/>
            <a:ext cx="3300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Student 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752344"/>
            <a:ext cx="3300984" cy="1618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personal pressure map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plans and sessions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confirmations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recovery choices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own history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2148840"/>
            <a:ext cx="3703320" cy="23317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58968" y="2350008"/>
            <a:ext cx="3300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University pilot summaries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2752344"/>
            <a:ext cx="3300984" cy="1618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aggregate feedback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course/week workload patterns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approved cohort summaries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46920" y="2148840"/>
            <a:ext cx="3474720" cy="23317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48088" y="2350008"/>
            <a:ext cx="3072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Research/export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48088" y="2752344"/>
            <a:ext cx="3072384" cy="16184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explicit consent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pseudonymized or aggregated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approved exports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Private help for students, aggregate learning for the pilot.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BACKUP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27280" y="51206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F5A96A"/>
                </a:solidFill>
                <a:latin typeface="Cascadia Mon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F5A96A"/>
                </a:solidFill>
                <a:latin typeface="Cascadia Mono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Evidence Before Claims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651760"/>
            <a:ext cx="2148840" cy="16459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852928"/>
            <a:ext cx="17465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255264"/>
            <a:ext cx="174650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BCC6C8"/>
                </a:solidFill>
                <a:latin typeface="Aptos"/>
              </a:rPr>
              <a:t>tasks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BCC6C8"/>
                </a:solidFill>
                <a:latin typeface="Aptos"/>
              </a:rPr>
              <a:t>deadlines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BCC6C8"/>
                </a:solidFill>
                <a:latin typeface="Aptos"/>
              </a:rPr>
              <a:t>sessions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07208" y="3474720"/>
            <a:ext cx="457200" cy="0"/>
          </a:xfrm>
          <a:prstGeom prst="line">
            <a:avLst/>
          </a:prstGeom>
          <a:ln w="1524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47287" y="2651760"/>
            <a:ext cx="2148840" cy="16459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48456" y="2852928"/>
            <a:ext cx="17465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Provider-blind 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3255264"/>
            <a:ext cx="174650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BCC6C8"/>
                </a:solidFill>
                <a:latin typeface="Aptos"/>
              </a:rPr>
              <a:t>obligations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BCC6C8"/>
                </a:solidFill>
                <a:latin typeface="Aptos"/>
              </a:rPr>
              <a:t>activity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BCC6C8"/>
                </a:solidFill>
                <a:latin typeface="Aptos"/>
              </a:rPr>
              <a:t>context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96127" y="3474720"/>
            <a:ext cx="457200" cy="0"/>
          </a:xfrm>
          <a:prstGeom prst="line">
            <a:avLst/>
          </a:prstGeom>
          <a:ln w="1524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236207" y="2651760"/>
            <a:ext cx="2148840" cy="16459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375" y="2852928"/>
            <a:ext cx="17465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Evidence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5" y="3255264"/>
            <a:ext cx="174650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BCC6C8"/>
                </a:solidFill>
                <a:latin typeface="Aptos"/>
              </a:rPr>
              <a:t>confidence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BCC6C8"/>
                </a:solidFill>
                <a:latin typeface="Aptos"/>
              </a:rPr>
              <a:t>provenance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BCC6C8"/>
                </a:solidFill>
                <a:latin typeface="Aptos"/>
              </a:rPr>
              <a:t>exposure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85048" y="3474720"/>
            <a:ext cx="457200" cy="0"/>
          </a:xfrm>
          <a:prstGeom prst="line">
            <a:avLst/>
          </a:prstGeom>
          <a:ln w="1524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025128" y="2651760"/>
            <a:ext cx="2148840" cy="16459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26296" y="2852928"/>
            <a:ext cx="17465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Claim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3255264"/>
            <a:ext cx="174650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BCC6C8"/>
                </a:solidFill>
                <a:latin typeface="Aptos"/>
              </a:rPr>
              <a:t>allowed wording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BCC6C8"/>
                </a:solidFill>
                <a:latin typeface="Aptos"/>
              </a:rPr>
              <a:t>min evidence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173967" y="3474720"/>
            <a:ext cx="457200" cy="0"/>
          </a:xfrm>
          <a:prstGeom prst="line">
            <a:avLst/>
          </a:prstGeom>
          <a:ln w="1524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1814048" y="2651760"/>
            <a:ext cx="2148840" cy="16459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015216" y="2852928"/>
            <a:ext cx="174650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Student surfaces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15216" y="3255264"/>
            <a:ext cx="174650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BCC6C8"/>
                </a:solidFill>
                <a:latin typeface="Aptos"/>
              </a:rPr>
              <a:t>pressure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BCC6C8"/>
                </a:solidFill>
                <a:latin typeface="Aptos"/>
              </a:rPr>
              <a:t>insights</a:t>
            </a:r>
          </a:p>
          <a:p>
            <a:pPr>
              <a:spcAft>
                <a:spcPts val="800"/>
              </a:spcAft>
            </a:pPr>
            <a:r>
              <a:rPr sz="1100" b="0">
                <a:solidFill>
                  <a:srgbClr val="BCC6C8"/>
                </a:solidFill>
                <a:latin typeface="Aptos"/>
              </a:rPr>
              <a:t>recovery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A student surface can only say what the evidence boundary permits.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BACKUP /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27280" y="51206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F5A96A"/>
                </a:solidFill>
                <a:latin typeface="Cascadia Mon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F5A96A"/>
                </a:solidFill>
                <a:latin typeface="Cascadia Mono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Research Rigor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240280"/>
            <a:ext cx="333756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441448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Research priors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43784"/>
            <a:ext cx="2935224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F5F7F5"/>
                </a:solidFill>
                <a:latin typeface="Aptos"/>
              </a:rPr>
              <a:t>cold-start estimates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240280"/>
            <a:ext cx="333756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76088" y="2441448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Confirmed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088" y="2843784"/>
            <a:ext cx="2935224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F5F7F5"/>
                </a:solidFill>
                <a:latin typeface="Aptos"/>
              </a:rPr>
              <a:t>student choices calibrate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1159" y="2240280"/>
            <a:ext cx="333756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82328" y="2441448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Clean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2328" y="2843784"/>
            <a:ext cx="2935224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F5F7F5"/>
                </a:solidFill>
                <a:latin typeface="Aptos"/>
              </a:rPr>
              <a:t>unknown traces stay marked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657600"/>
            <a:ext cx="333756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3858768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Exposure aware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261104"/>
            <a:ext cx="2935224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F5F7F5"/>
                </a:solidFill>
                <a:latin typeface="Aptos"/>
              </a:rPr>
              <a:t>prompts can change behavior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3657600"/>
            <a:ext cx="3337560" cy="8686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76088" y="3858768"/>
            <a:ext cx="29352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Falsifiable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4261104"/>
            <a:ext cx="2935224" cy="155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100" b="0">
                <a:solidFill>
                  <a:srgbClr val="F5F7F5"/>
                </a:solidFill>
                <a:latin typeface="Aptos"/>
              </a:rPr>
              <a:t>hypotheses need kill criteria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The goal is accurate instrumentation, not labels.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BACKUP / STRESS 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27280" y="51206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F5A96A"/>
                </a:solidFill>
                <a:latin typeface="Cascadia Mon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F5A96A"/>
                </a:solidFill>
                <a:latin typeface="Cascadia Mono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LyraSim And Edge Cases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48840"/>
            <a:ext cx="3703320" cy="22402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350008"/>
            <a:ext cx="3300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Stress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752344"/>
            <a:ext cx="3300984" cy="152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idle resource open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background video fakeout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multi-device collision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duplicate deadlines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2148840"/>
            <a:ext cx="3703320" cy="22402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58968" y="2350008"/>
            <a:ext cx="3300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Anomaly families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2752344"/>
            <a:ext cx="3300984" cy="152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sessions far above baseline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sessions far below baseline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single outlier inflating averages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provider progress ambiguity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46920" y="2148840"/>
            <a:ext cx="3474720" cy="224028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48088" y="2350008"/>
            <a:ext cx="3072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48088" y="2752344"/>
            <a:ext cx="3072384" cy="152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surface failures early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keep prompts useful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protect clean calibration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Dogfooding, user feedback, and LyraSim all reduce surprise before a larger pilot.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BACKUP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27280" y="51206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F5A96A"/>
                </a:solidFill>
                <a:latin typeface="Cascadia Mon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F5A96A"/>
                </a:solidFill>
                <a:latin typeface="Cascadia Mono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Current vs Future-Gated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3749039" cy="30175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167128"/>
            <a:ext cx="334670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Current / dogfooded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569464"/>
            <a:ext cx="3346703" cy="23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brain dump onboarding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task planning and timers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missed-plan recovery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deadline views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Moodle context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Pulse pressure map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Insights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965960"/>
            <a:ext cx="3749039" cy="30175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58968" y="2167128"/>
            <a:ext cx="334670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Future-gated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2569464"/>
            <a:ext cx="3346703" cy="23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live Baseet module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provider progress candidates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session-continuity estimates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hypothesis-based prompts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AI over evidence packets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adaptive scheduling experiments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46920" y="1965960"/>
            <a:ext cx="3474720" cy="301752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48088" y="2167128"/>
            <a:ext cx="3072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Support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48088" y="2569464"/>
            <a:ext cx="3072384" cy="23042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student-selected resources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academic advising links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BCC6C8"/>
                </a:solidFill>
                <a:latin typeface="Aptos"/>
              </a:rPr>
              <a:t>counseling or accessibility links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Future features stay confirmation-first and student-controlled.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BACKUP /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27280" y="51206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F5A96A"/>
                </a:solidFill>
                <a:latin typeface="Cascadia Mon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F5A96A"/>
                </a:solidFill>
                <a:latin typeface="Cascadia Mono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Technical Readiness /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560320"/>
            <a:ext cx="2560320" cy="150876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761488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Infra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163824"/>
            <a:ext cx="2157984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FastAPI, Next.js, Supabase, Redis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2560320"/>
            <a:ext cx="2560320" cy="150876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0248" y="2761488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3163824"/>
            <a:ext cx="2157984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deterministic harness and backend checks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2560320"/>
            <a:ext cx="2560320" cy="150876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70648" y="2761488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Kill switches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3163824"/>
            <a:ext cx="2157984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safe mode and feature suppression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69880" y="2560320"/>
            <a:ext cx="2560320" cy="150876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71048" y="2761488"/>
            <a:ext cx="21579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71048" y="3163824"/>
            <a:ext cx="2157984" cy="795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F5F7F5"/>
                </a:solidFill>
                <a:latin typeface="Aptos"/>
              </a:rPr>
              <a:t>dogfooding and user surveys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F5A9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Scale readiness is product value plus containment plus feedback.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yraos-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93192"/>
            <a:ext cx="201168" cy="2011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512064"/>
            <a:ext cx="2377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00B284"/>
                </a:solidFill>
                <a:latin typeface="Cascadia Mono"/>
              </a:rPr>
              <a:t>BACKUP /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27280" y="51206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1">
                <a:solidFill>
                  <a:srgbClr val="F5A96A"/>
                </a:solidFill>
                <a:latin typeface="Cascadia Mono"/>
              </a:rPr>
              <a:t>BACKUP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51408" y="7808975"/>
            <a:ext cx="4114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>
                <a:solidFill>
                  <a:srgbClr val="F5A96A"/>
                </a:solidFill>
                <a:latin typeface="Cascadia Mono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43000"/>
            <a:ext cx="1042416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F5F7F5"/>
                </a:solidFill>
                <a:latin typeface="Aptos Display"/>
              </a:rPr>
              <a:t>Repo-Grounded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808975"/>
            <a:ext cx="43891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>
                <a:solidFill>
                  <a:srgbClr val="808D92"/>
                </a:solidFill>
                <a:latin typeface="Cascadia Mono"/>
              </a:rPr>
              <a:t>LyraOS / university reviewer pitch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48840"/>
            <a:ext cx="3383280" cy="214884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" y="2350008"/>
            <a:ext cx="29809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Product surfaces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752344"/>
            <a:ext cx="2980944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Pressure Map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Insights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Today / sessions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Moodle / calendar 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2148840"/>
            <a:ext cx="3383280" cy="214884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93207" y="2350008"/>
            <a:ext cx="29809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5A96A"/>
                </a:solidFill>
                <a:latin typeface="Cascadia Mono"/>
              </a:rPr>
              <a:t>Boundary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7" y="2752344"/>
            <a:ext cx="2980944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Authority map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provider adapter contract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output surfaces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exposure ledger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2148840"/>
            <a:ext cx="3383280" cy="2148840"/>
          </a:xfrm>
          <a:prstGeom prst="rect">
            <a:avLst/>
          </a:prstGeom>
          <a:solidFill>
            <a:srgbClr val="232C31"/>
          </a:solidFill>
          <a:ln w="8890">
            <a:solidFill>
              <a:srgbClr val="404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16568" y="2350008"/>
            <a:ext cx="298094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B284"/>
                </a:solidFill>
                <a:latin typeface="Cascadia Mono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2752344"/>
            <a:ext cx="2980944" cy="1435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LyraSim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research contracts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browser smoke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BCC6C8"/>
                </a:solidFill>
                <a:latin typeface="Aptos"/>
              </a:rPr>
              <a:t>multi-user tests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7059168"/>
            <a:ext cx="12326112" cy="0"/>
          </a:xfrm>
          <a:prstGeom prst="line">
            <a:avLst/>
          </a:prstGeom>
          <a:ln w="13970">
            <a:solidFill>
              <a:srgbClr val="00B2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7242048"/>
            <a:ext cx="12618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5F7F5"/>
                </a:solidFill>
                <a:latin typeface="Aptos"/>
              </a:rPr>
              <a:t>The backup slides answer depth questions without cluttering the pitch.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1308</Words>
  <Application>Microsoft Office PowerPoint</Application>
  <PresentationFormat>Custom</PresentationFormat>
  <Paragraphs>326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Ali Nasser</cp:lastModifiedBy>
  <cp:revision>5</cp:revision>
  <dcterms:created xsi:type="dcterms:W3CDTF">2013-01-27T09:14:16Z</dcterms:created>
  <dcterms:modified xsi:type="dcterms:W3CDTF">2026-05-23T17:32:20Z</dcterms:modified>
  <cp:category/>
</cp:coreProperties>
</file>