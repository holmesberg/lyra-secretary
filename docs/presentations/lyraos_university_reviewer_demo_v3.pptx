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98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LyraOS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Student-owned academic load and recovery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pic>
        <p:nvPicPr>
          <p:cNvPr id="8" name="Picture 7" descr="lyra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" y="2743199"/>
            <a:ext cx="1645917" cy="16459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834640" y="2651760"/>
            <a:ext cx="6400800" cy="1737360"/>
          </a:xfrm>
          <a:prstGeom prst="rect">
            <a:avLst/>
          </a:prstGeom>
          <a:solidFill>
            <a:srgbClr val="171E23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2834640" y="2651760"/>
            <a:ext cx="0" cy="1737360"/>
          </a:xfrm>
          <a:prstGeom prst="line">
            <a:avLst/>
          </a:prstGeom>
          <a:ln w="406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2971800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F5F7F5"/>
                </a:solidFill>
                <a:latin typeface="Aptos Display"/>
              </a:rPr>
              <a:t>Make academic pressure visible early enough to recover.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788920"/>
            <a:ext cx="2926080" cy="12801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42448" y="3008376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Pilot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2448" y="3447287"/>
            <a:ext cx="2523744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A small opt-in Baseet-oriented demo cohort.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pitch is simple: help students see the week, choose the next move, and recover before pressure compounds.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Maya opens Lyra Sunday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She has work. The hard part is knowing what is now dangerous.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1097280" cy="347472"/>
          </a:xfrm>
          <a:prstGeom prst="rect">
            <a:avLst/>
          </a:prstGeom>
          <a:solidFill>
            <a:srgbClr val="171E23"/>
          </a:solidFill>
          <a:ln w="8890">
            <a:solidFill>
              <a:srgbClr val="00B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0B284"/>
                </a:solidFill>
                <a:latin typeface="Cascadia Mono"/>
              </a:rPr>
              <a:t>8:45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14553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3 deadlines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584448"/>
            <a:ext cx="22037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Two close together, one vague.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20440" y="3547872"/>
            <a:ext cx="530351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06240" y="2423160"/>
            <a:ext cx="1097280" cy="347472"/>
          </a:xfrm>
          <a:prstGeom prst="rect">
            <a:avLst/>
          </a:prstGeom>
          <a:solidFill>
            <a:srgbClr val="171E23"/>
          </a:solidFill>
          <a:ln w="8890">
            <a:solidFill>
              <a:srgbClr val="F5A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5237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5A96A"/>
                </a:solidFill>
                <a:latin typeface="Cascadia Mono"/>
              </a:rPr>
              <a:t>9:10 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92608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7" y="314553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one late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3584448"/>
            <a:ext cx="22037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The first block slips.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79" y="3547872"/>
            <a:ext cx="530352" cy="0"/>
          </a:xfrm>
          <a:prstGeom prst="line">
            <a:avLst/>
          </a:prstGeom>
          <a:ln w="1524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98079" y="2423160"/>
            <a:ext cx="1097280" cy="347472"/>
          </a:xfrm>
          <a:prstGeom prst="rect">
            <a:avLst/>
          </a:prstGeom>
          <a:solidFill>
            <a:srgbClr val="171E23"/>
          </a:solidFill>
          <a:ln w="8890">
            <a:solidFill>
              <a:srgbClr val="EB6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25237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EB6052"/>
                </a:solidFill>
                <a:latin typeface="Cascadia Mono"/>
              </a:rPr>
              <a:t>10:30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92608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8" y="314553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B6052"/>
                </a:solidFill>
                <a:latin typeface="Cascadia Mono"/>
              </a:rPr>
              <a:t>pressure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584448"/>
            <a:ext cx="22037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The plan no longer matches the week.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04119" y="3547872"/>
            <a:ext cx="530353" cy="0"/>
          </a:xfrm>
          <a:prstGeom prst="line">
            <a:avLst/>
          </a:prstGeom>
          <a:ln w="15240">
            <a:solidFill>
              <a:srgbClr val="EB6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789920" y="2423160"/>
            <a:ext cx="1097280" cy="347472"/>
          </a:xfrm>
          <a:prstGeom prst="rect">
            <a:avLst/>
          </a:prstGeom>
          <a:solidFill>
            <a:srgbClr val="171E23"/>
          </a:solidFill>
          <a:ln w="8890">
            <a:solidFill>
              <a:srgbClr val="00B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25237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0B284"/>
                </a:solidFill>
                <a:latin typeface="Cascadia Mono"/>
              </a:rPr>
              <a:t>10:32 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89920" y="292608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91088" y="314553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next move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584448"/>
            <a:ext cx="22037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Done, partial, split, or adjust?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first value is not automation. It is making the recovery path visible at the moment of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FIRST VALUE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From messy week to explainable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Lyra is a web app today. Baseet is the academic module/provider adapter for the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43200"/>
            <a:ext cx="2926080" cy="13716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962656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1. Brain dump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01568"/>
            <a:ext cx="25237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Paste messy tasks and deadlines.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3429000"/>
            <a:ext cx="731520" cy="0"/>
          </a:xfrm>
          <a:prstGeom prst="line">
            <a:avLst/>
          </a:prstGeom>
          <a:ln w="1905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709160" y="2743200"/>
            <a:ext cx="2926080" cy="13716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0328" y="2962656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2. Import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3401568"/>
            <a:ext cx="25237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Baseet / Moodle-style structure reduces manual entry.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3429000"/>
            <a:ext cx="731521" cy="0"/>
          </a:xfrm>
          <a:prstGeom prst="line">
            <a:avLst/>
          </a:prstGeom>
          <a:ln w="1905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549640" y="2743200"/>
            <a:ext cx="3794760" cy="13716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0808" y="2962656"/>
            <a:ext cx="33924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3. See the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3401568"/>
            <a:ext cx="33924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The pressure map explains what needs attention first.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Baseet is replaceable with Moodle, Canvas, or similar systems. Lyra is the planning and recovery layer above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PRODUCT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Pressure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The week becomes a shape a student can act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7406640" cy="2926080"/>
          </a:xfrm>
          <a:prstGeom prst="rect">
            <a:avLst/>
          </a:prstGeom>
          <a:solidFill>
            <a:srgbClr val="171E23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6700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B284"/>
                </a:solidFill>
                <a:latin typeface="Cascadia Mono"/>
              </a:rPr>
              <a:t>VISIBLE ACADEMIC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6537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5F7F5"/>
                </a:solidFill>
                <a:latin typeface="Aptos Display"/>
              </a:rPr>
              <a:t>Visible load is 9-14 hours: a range, not fake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24528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3 deadlines cluster within 48 hours.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2 imported items need coverage confirmation.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2331720"/>
            <a:ext cx="347472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90888" y="255117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2990087"/>
            <a:ext cx="307238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uncertainty is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3429000"/>
            <a:ext cx="347472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364845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Trust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4087368"/>
            <a:ext cx="307238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source confidence is named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4526280"/>
            <a:ext cx="347472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474573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Recovery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5184648"/>
            <a:ext cx="307238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the next move is selectable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This slide is the reviewer proof: useful without pretending to know more than the evidence supports.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The recovery prompt is the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The product becomes useful when a plan slips.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88920"/>
            <a:ext cx="2468880" cy="10515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3008376"/>
            <a:ext cx="20665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Missed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447287"/>
            <a:ext cx="2066544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Maya does not finish the planned session.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3310128"/>
            <a:ext cx="685800" cy="0"/>
          </a:xfrm>
          <a:prstGeom prst="line">
            <a:avLst/>
          </a:prstGeom>
          <a:ln w="1778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43400" y="2788920"/>
            <a:ext cx="2468880" cy="10515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3008376"/>
            <a:ext cx="20665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Pressure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447287"/>
            <a:ext cx="2066544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The remaining week gets tighter.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03720" y="3310128"/>
            <a:ext cx="685800" cy="0"/>
          </a:xfrm>
          <a:prstGeom prst="line">
            <a:avLst/>
          </a:prstGeom>
          <a:ln w="1778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80960" y="2331720"/>
            <a:ext cx="3840480" cy="19659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8" y="2551176"/>
            <a:ext cx="34381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Lyra 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2990087"/>
            <a:ext cx="3438144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2400" b="0" dirty="0">
                <a:solidFill>
                  <a:srgbClr val="F5F7F5"/>
                </a:solidFill>
                <a:latin typeface="Aptos"/>
              </a:rPr>
              <a:t>Done, partial, split, or adjust?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student stays in command. Lyra makes the next safe action easier to choose.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DAY TO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How Lyra helps without becoming heavy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Three repeated moments, not another complex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3474720" cy="19202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59689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035808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2200" b="0">
                <a:solidFill>
                  <a:srgbClr val="F5F7F5"/>
                </a:solidFill>
                <a:latin typeface="Aptos"/>
              </a:rPr>
              <a:t>turn obligations into realistic 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377440"/>
            <a:ext cx="3474720" cy="19202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87568" y="259689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Run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3035808"/>
            <a:ext cx="30723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2200" b="0">
                <a:solidFill>
                  <a:srgbClr val="F5F7F5"/>
                </a:solidFill>
                <a:latin typeface="Aptos"/>
              </a:rPr>
              <a:t>track what actually happened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377440"/>
            <a:ext cx="3474720" cy="19202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59568" y="259689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Recover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3035808"/>
            <a:ext cx="3072384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2200" b="0" dirty="0">
                <a:solidFill>
                  <a:srgbClr val="F5F7F5"/>
                </a:solidFill>
                <a:latin typeface="Aptos"/>
              </a:rPr>
              <a:t>repair </a:t>
            </a:r>
            <a:r>
              <a:rPr lang="en-US" sz="2200" b="0" dirty="0">
                <a:solidFill>
                  <a:srgbClr val="F5F7F5"/>
                </a:solidFill>
                <a:latin typeface="Aptos"/>
              </a:rPr>
              <a:t>study </a:t>
            </a:r>
            <a:r>
              <a:rPr sz="2200" b="0" dirty="0">
                <a:solidFill>
                  <a:srgbClr val="F5F7F5"/>
                </a:solidFill>
                <a:latin typeface="Aptos"/>
              </a:rPr>
              <a:t>drift with confirmation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loop is intentionally small: plan -&gt; session -&gt; recovery -&gt; better estimates.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Insights make time legible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pic>
        <p:nvPicPr>
          <p:cNvPr id="8" name="Picture 7" descr="insight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08" y="173581"/>
            <a:ext cx="8863700" cy="79013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" y="1965960"/>
            <a:ext cx="4206240" cy="10515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185415"/>
            <a:ext cx="380390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See where time goes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24328"/>
            <a:ext cx="3803903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Students can see where plans actually drift.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29000"/>
            <a:ext cx="4206240" cy="10515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648456"/>
            <a:ext cx="380390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Spot repeated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032999"/>
            <a:ext cx="3803903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dirty="0">
                <a:solidFill>
                  <a:srgbClr val="F5F7F5"/>
                </a:solidFill>
                <a:latin typeface="Aptos"/>
              </a:rPr>
              <a:t>Late starts, underestimates, and missed windows become visible.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892040"/>
            <a:ext cx="4206240" cy="10515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5111496"/>
            <a:ext cx="380390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Improve estimates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468111"/>
            <a:ext cx="3803903" cy="320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dirty="0">
                <a:solidFill>
                  <a:srgbClr val="F5F7F5"/>
                </a:solidFill>
                <a:latin typeface="Aptos"/>
              </a:rPr>
              <a:t>Confirmed use makes future planning less </a:t>
            </a:r>
            <a:r>
              <a:rPr sz="1500" b="0" dirty="0" err="1">
                <a:solidFill>
                  <a:srgbClr val="F5F7F5"/>
                </a:solidFill>
                <a:latin typeface="Aptos"/>
              </a:rPr>
              <a:t>guessy</a:t>
            </a:r>
            <a:r>
              <a:rPr sz="1500" b="0" dirty="0">
                <a:solidFill>
                  <a:srgbClr val="F5F7F5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BASEET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Why Baseet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Baseet is the academic structure provider for this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347472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50545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Baseet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4436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courses, deadlines, resources, and academic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3108960"/>
            <a:ext cx="822960" cy="0"/>
          </a:xfrm>
          <a:prstGeom prst="line">
            <a:avLst/>
          </a:prstGeom>
          <a:ln w="1905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2286000"/>
            <a:ext cx="347472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7568" y="2505456"/>
            <a:ext cx="30723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Lyra adds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944368"/>
            <a:ext cx="30723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load clarity, planning, sessions, and recovery prompts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3108960"/>
            <a:ext cx="822960" cy="0"/>
          </a:xfrm>
          <a:prstGeom prst="line">
            <a:avLst/>
          </a:prstGeom>
          <a:ln w="1905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0104120" y="2286000"/>
            <a:ext cx="333756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05288" y="250545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Pilot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2944368"/>
            <a:ext cx="29352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students get a practical workspace around existing academic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At another university, the same role could be filled by Moodle, Canvas, Google Calendar, or another provider.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UNIVERSITY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What the university learns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The pilot produces aggregate learning about workload shape, not individual behavior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31089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368296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Course workload realism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07208"/>
            <a:ext cx="2706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Where estimated work diverges from student-reported recovery difficulty.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48840"/>
            <a:ext cx="31089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368296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Deadline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807208"/>
            <a:ext cx="2706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Which weeks compress student load beyond realistic recovery.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148840"/>
            <a:ext cx="31089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368296"/>
            <a:ext cx="27066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Recovery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807208"/>
            <a:ext cx="270662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Which kinds of academic pressure create the most unresolved drift.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12880" y="2148840"/>
            <a:ext cx="192024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14048" y="2368296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4048" y="2807208"/>
            <a:ext cx="151790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When pressure peaks across the pilot.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value to the university is better pilot instrumentation for academic load and support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BUILT THROUGH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Built while using it under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The system became sharper because reality kept breaking simpler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7863840" cy="1325880"/>
          </a:xfrm>
          <a:prstGeom prst="rect">
            <a:avLst/>
          </a:prstGeom>
          <a:solidFill>
            <a:srgbClr val="171E23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68680" y="2148840"/>
            <a:ext cx="0" cy="1325880"/>
          </a:xfrm>
          <a:prstGeom prst="line">
            <a:avLst/>
          </a:prstGeom>
          <a:ln w="406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19" y="2468880"/>
            <a:ext cx="722375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dirty="0">
                <a:solidFill>
                  <a:schemeClr val="bg1">
                    <a:lumMod val="75000"/>
                  </a:schemeClr>
                </a:solidFill>
              </a:rPr>
              <a:t>The current prototype emerged through rapid iteration under real academic pressure.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29768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4517136"/>
            <a:ext cx="1746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4956048"/>
            <a:ext cx="174650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manual tracking was too heavy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429768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67328" y="4517136"/>
            <a:ext cx="1746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4956048"/>
            <a:ext cx="174650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context was not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29768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3368" y="4517136"/>
            <a:ext cx="1746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ambiguity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829205"/>
            <a:ext cx="174650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 dirty="0">
                <a:solidFill>
                  <a:srgbClr val="F5F7F5"/>
                </a:solidFill>
                <a:latin typeface="Aptos"/>
              </a:rPr>
              <a:t>passive activity needed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429768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9408" y="4517136"/>
            <a:ext cx="1746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956048"/>
            <a:ext cx="174650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nudges affect later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84280" y="429768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585448" y="4517136"/>
            <a:ext cx="1746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85448" y="4956048"/>
            <a:ext cx="174650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two-app flow kills momentum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Invariant that survived: intention -&gt; execution -&gt; interruption -&gt; drift -&gt; recalibration.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Pilot success is measured, not guessed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Surveys are primary. Dashboard signals explain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5943600" cy="27432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368296"/>
            <a:ext cx="5541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Primary survey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07208"/>
            <a:ext cx="55412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planning clarity improves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recovery prompts are useful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students understand where time goes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workflow is low-friction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students trust confirmations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148840"/>
            <a:ext cx="5029200" cy="27432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0688" y="2368296"/>
            <a:ext cx="46268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Supporting dashboard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807208"/>
            <a:ext cx="4626864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activation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weekly active use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recovery prompt completion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reduced unresolved stale sessions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B8C2C5"/>
                </a:solidFill>
                <a:latin typeface="Aptos"/>
              </a:rPr>
              <a:t>settings/export discoverability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A good pilot proves usefulness and trust before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8C2C5"/>
                </a:solidFill>
                <a:latin typeface="Aptos"/>
              </a:rPr>
              <a:t>Run a small opt-in Baseet-oriented demo cohort.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7498079" cy="1417320"/>
          </a:xfrm>
          <a:prstGeom prst="rect">
            <a:avLst/>
          </a:prstGeom>
          <a:solidFill>
            <a:srgbClr val="171E23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14400" y="2148840"/>
            <a:ext cx="0" cy="1417320"/>
          </a:xfrm>
          <a:prstGeom prst="line">
            <a:avLst/>
          </a:prstGeom>
          <a:ln w="406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2468880"/>
            <a:ext cx="685799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F5F7F5"/>
                </a:solidFill>
                <a:latin typeface="Aptos Display"/>
              </a:rPr>
              <a:t>Let students test whether academic pressure becomes easier to see, plan, and recover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148840"/>
            <a:ext cx="388620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45168" y="2368296"/>
            <a:ext cx="34838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Pilot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807208"/>
            <a:ext cx="3483864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B8C2C5"/>
                </a:solidFill>
                <a:latin typeface="Aptos"/>
              </a:rPr>
              <a:t>pressure map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B8C2C5"/>
                </a:solidFill>
                <a:latin typeface="Aptos"/>
              </a:rPr>
              <a:t>recovery loop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B8C2C5"/>
                </a:solidFill>
                <a:latin typeface="Aptos"/>
              </a:rPr>
              <a:t>student confirmations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B8C2C5"/>
                </a:solidFill>
                <a:latin typeface="Aptos"/>
              </a:rPr>
              <a:t>survey + dashboard readout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This is not institution-wide deployment. It is a contained test of the first value moment.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Data Access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57400"/>
            <a:ext cx="365760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27685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Student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15768"/>
            <a:ext cx="325526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personal pressure map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plans and sessions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confirmations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recovery choices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own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057400"/>
            <a:ext cx="365760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7568" y="227685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University pilot summaries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715768"/>
            <a:ext cx="325526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aggregate feedback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course/week workload patterns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approved cohort summaries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057400"/>
            <a:ext cx="329184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59568" y="227685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Research/export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15768"/>
            <a:ext cx="288950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explicit consent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pseudonymized or aggregated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B8C2C5"/>
                </a:solidFill>
                <a:latin typeface="Aptos"/>
              </a:rPr>
              <a:t>approved exports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pilot boundary is a product feature, not an afterthought.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43200"/>
            <a:ext cx="260604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96265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401568"/>
            <a:ext cx="22037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Baseet / Moodle / Calendar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3456432"/>
            <a:ext cx="548640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206240" y="2743200"/>
            <a:ext cx="260604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7" y="296265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Provider-blind 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3401568"/>
            <a:ext cx="22037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obligations, dates, context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79" y="3456432"/>
            <a:ext cx="548641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543800" y="2743200"/>
            <a:ext cx="260604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8" y="296265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Evidence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401568"/>
            <a:ext cx="22037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confidence, provenance, exposure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3456432"/>
            <a:ext cx="548640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881359" y="2743200"/>
            <a:ext cx="260604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82528" y="296265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Student surfaces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3401568"/>
            <a:ext cx="22037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pressure, recovery, insights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Internal claim boundaries keep surfaces aligned with evidence 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Research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6829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Research priors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07208"/>
            <a:ext cx="293522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start estimates before enough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214884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36829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Confirmed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807208"/>
            <a:ext cx="293522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student choices calibrate the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14884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36608" y="236829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Clean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2807208"/>
            <a:ext cx="293522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repaired and unknown traces stay marked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6616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378561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Exposure 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224528"/>
            <a:ext cx="293522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prompts can change later behavior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356616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76088" y="3785616"/>
            <a:ext cx="293522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Falsifiable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4224528"/>
            <a:ext cx="2935224" cy="137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hypotheses need kill criteria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Signals earn authority through confirmation and repeated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LYRASIM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LyraSim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57400"/>
            <a:ext cx="365760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27685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Scenario families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15768"/>
            <a:ext cx="3255264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idle resource open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background video fakeout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multi-device collision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reverse provider progress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duplicate deadlines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057400"/>
            <a:ext cx="365760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7568" y="227685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What it catches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715768"/>
            <a:ext cx="3255264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provider overclaiming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clean-data contamination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unsafe mutation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missing recovery option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prompt spam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057400"/>
            <a:ext cx="329184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59568" y="227685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715768"/>
            <a:ext cx="2889504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It validates boundaries; students validate experience.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LyraSim is a pressure harness before Baseet-scale exposure.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Current vs Future-Gated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5669280" cy="29260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231136"/>
            <a:ext cx="5266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Current / dogfooded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70048"/>
            <a:ext cx="5266944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brain dump onboarding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task planning and timers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missed-plan recovery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calendar and deadline views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Moodle context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Pulse pressure map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011680"/>
            <a:ext cx="5669280" cy="292608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16368" y="2231136"/>
            <a:ext cx="5266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Future-gated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670048"/>
            <a:ext cx="5266944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live Baseet module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provider progress candidates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session-continuity estimates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hypothesis-based prompts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AI over evidence packets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B8C2C5"/>
                </a:solidFill>
                <a:latin typeface="Aptos"/>
              </a:rPr>
              <a:t>adaptive scheduling experiments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Future features stay confirmation-first and student-controlled.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Student Support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3657600" cy="20574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36829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If drift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07208"/>
            <a:ext cx="325526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Lyra can offer student-controlled links to support resources.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148840"/>
            <a:ext cx="3657600" cy="20574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7568" y="2368296"/>
            <a:ext cx="3255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Support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2807208"/>
            <a:ext cx="325526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academic advising, counseling, disability/accessibility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148840"/>
            <a:ext cx="3291840" cy="205740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59568" y="2368296"/>
            <a:ext cx="28895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Pilot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59568" y="2807208"/>
            <a:ext cx="2889504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5F7F5"/>
                </a:solidFill>
                <a:latin typeface="Aptos"/>
              </a:rPr>
              <a:t>No automatic staff alert in the demo cohort.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Support integration should increase agency, not remove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Technical Readiness /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251460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734056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72968"/>
            <a:ext cx="2112264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FastAPI, Next.js, Supabase,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2514600"/>
            <a:ext cx="251460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2734056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172968"/>
            <a:ext cx="2112264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deterministic harness and backend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514600"/>
            <a:ext cx="251460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4928" y="2734056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Kill switches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3172968"/>
            <a:ext cx="2112264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safe mode and feature suppression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2514600"/>
            <a:ext cx="251460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79608" y="2734056"/>
            <a:ext cx="2112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9608" y="3172968"/>
            <a:ext cx="2112264" cy="777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browser smoke and scoped rollout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Scale comes after product value, containment, and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51206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Repo-Grounded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3852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F8C92"/>
                </a:solidFill>
                <a:latin typeface="Cascadia Mono"/>
              </a:rPr>
              <a:t>LyraOS / reviewer pitch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3383280" cy="2377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2139696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Product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78608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Pressure Map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Insights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Today / sessions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Moodle / calendar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920240"/>
            <a:ext cx="3383280" cy="2377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2139696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A96A"/>
                </a:solidFill>
                <a:latin typeface="Cascadia Mono"/>
              </a:rPr>
              <a:t>Safety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578608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Authority map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provider adapter contract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output surfaces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exposure ledger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920240"/>
            <a:ext cx="3383280" cy="2377440"/>
          </a:xfrm>
          <a:prstGeom prst="rect">
            <a:avLst/>
          </a:prstGeom>
          <a:solidFill>
            <a:srgbClr val="232C31"/>
          </a:solidFill>
          <a:ln w="8890">
            <a:solidFill>
              <a:srgbClr val="3F4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87968" y="2139696"/>
            <a:ext cx="29809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B284"/>
                </a:solidFill>
                <a:latin typeface="Cascadia Mono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2578608"/>
            <a:ext cx="29809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LyraSim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research contracts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browser smoke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B8C2C5"/>
                </a:solidFill>
                <a:latin typeface="Aptos"/>
              </a:rPr>
              <a:t>multi-user tests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backup exists to answer depth questions without cluttering the pitch.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1303</Words>
  <Application>Microsoft Office PowerPoint</Application>
  <PresentationFormat>Custom</PresentationFormat>
  <Paragraphs>300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Nasser</cp:lastModifiedBy>
  <cp:revision>4</cp:revision>
  <dcterms:created xsi:type="dcterms:W3CDTF">2013-01-27T09:14:16Z</dcterms:created>
  <dcterms:modified xsi:type="dcterms:W3CDTF">2026-05-23T13:24:30Z</dcterms:modified>
  <cp:category/>
</cp:coreProperties>
</file>